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37744"/>
            <a:ext cx="8631936" cy="4668012"/>
          </a:xfrm>
          <a:prstGeom prst="rect">
            <a:avLst/>
          </a:prstGeom>
          <a:solidFill>
            <a:srgbClr val="16160F"/>
          </a:solidFill>
          <a:ln w="12700">
            <a:solidFill>
              <a:srgbClr val="6F4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7C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rtl="1" sz="5000" b="1" dirty="0">
                <a:solidFill>
                  <a:srgbClr val="F0EEE6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סוף דבר</a:t>
            </a:r>
            <a:endParaRPr lang="he-IL" sz="50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5000"/>
              </a:lnSpc>
              <a:buNone/>
            </a:pPr>
            <a:r>
              <a:rPr lang="he-IL" altLang="en-US" rtl="1" sz="1500" dirty="0">
                <a:solidFill>
                  <a:srgbClr val="C9A961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סוֹף דָּבָר הַכֹּל נִשְׁמָע אֶת הָאֱלֹהִים יְרָא</a:t>
            </a:r>
            <a:endParaRPr lang="he-IL" sz="1500" dirty="0"/>
          </a:p>
          <a:p>
            <a:pPr rtl="1" algn="ctr" indent="0" marL="0">
              <a:lnSpc>
                <a:spcPct val="135000"/>
              </a:lnSpc>
              <a:buNone/>
            </a:pPr>
            <a:r>
              <a:rPr lang="he-IL" altLang="en-US" rtl="1" sz="1500" dirty="0">
                <a:solidFill>
                  <a:srgbClr val="C9A961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וְאֶת מִצְוֺתָיו שְׁמוֹר כִּי זֶה כׇּל הָאָדָם.</a:t>
            </a:r>
            <a:endParaRPr lang="he-IL" sz="1500" dirty="0"/>
          </a:p>
        </p:txBody>
      </p:sp>
      <p:sp>
        <p:nvSpPr>
          <p:cNvPr id="6" name="Text 4"/>
          <p:cNvSpPr/>
          <p:nvPr/>
        </p:nvSpPr>
        <p:spPr>
          <a:xfrm>
            <a:off x="0" y="2578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B3AE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קהלת יב, יג</a:t>
            </a:r>
            <a:endParaRPr lang="he-IL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2926080"/>
            <a:ext cx="2011680" cy="10973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1272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1600" dirty="0">
                <a:solidFill>
                  <a:srgbClr val="F0EE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מאגר שאלות ותשובות בהלכה וביהדות</a:t>
            </a:r>
            <a:endParaRPr lang="he-IL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930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1050" dirty="0">
                <a:solidFill>
                  <a:srgbClr val="B3AE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אתר תוכן עם מנוע חיפוש היברידי — לקסיקלי וסמנטי — ומודל שפה שרץ מקומית, בלי ענן ובלי עלות</a:t>
            </a:r>
            <a:endParaRPr lang="he-IL" sz="1050" dirty="0"/>
          </a:p>
        </p:txBody>
      </p:sp>
      <p:sp>
        <p:nvSpPr>
          <p:cNvPr id="10" name="Shape 8"/>
          <p:cNvSpPr/>
          <p:nvPr/>
        </p:nvSpPr>
        <p:spPr>
          <a:xfrm>
            <a:off x="4069080" y="4041648"/>
            <a:ext cx="1005840" cy="10058"/>
          </a:xfrm>
          <a:prstGeom prst="rect">
            <a:avLst/>
          </a:prstGeom>
          <a:solidFill>
            <a:srgbClr val="3A3527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2245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rtl="1" sz="1000" dirty="0">
                <a:solidFill>
                  <a:srgbClr val="B3AE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מגיש: ⟨שם⟩   ·   ⟨שם הקורס⟩   ·   מרצה: ⟨שם⟩   ·   ⟨תאריך⟩</a:t>
            </a:r>
            <a:endParaRPr lang="he-IL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הבעיה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שאלה שצריכה תשובה עכשיו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2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מי ששואל שאלה בהלכה שואל אותה ברגע מסוים, בניסוח שלו, ובלי לדעת איך היא נקראת בספר. שלושה דברים עומדים בינו לבין התשובה.</a:t>
            </a:r>
            <a:endParaRPr lang="he-IL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993392"/>
            <a:ext cx="2542032" cy="1993392"/>
          </a:xfrm>
          <a:prstGeom prst="roundRect">
            <a:avLst>
              <a:gd name="adj" fmla="val 4128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305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הרגע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2514600"/>
            <a:ext cx="21762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שבת נכנסת בעוד רבע שעה, המאכל כבר על הפלטה והאורח בדלת. אין זמן לחפש בספר, ולא תמיד יש את מי לשאול.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3300984" y="1993392"/>
            <a:ext cx="2542032" cy="1993392"/>
          </a:xfrm>
          <a:prstGeom prst="roundRect">
            <a:avLst>
              <a:gd name="adj" fmla="val 4128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1305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החיפוש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3483864" y="2514600"/>
            <a:ext cx="21762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מנוע חיפוש כללי מחזיר פורומים, תשובות סותרות ושו״ת סרוק. אין מקום אחד שנותן תשובה קצרה, עם מקור ועם המנהגים.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1993392"/>
            <a:ext cx="2542032" cy="1993392"/>
          </a:xfrm>
          <a:prstGeom prst="roundRect">
            <a:avLst>
              <a:gd name="adj" fmla="val 4128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305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העברית</a:t>
            </a:r>
            <a:endParaRPr lang="he-IL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2514600"/>
            <a:ext cx="21762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ניקוד, אותיות סופיות ואותיות שימוש שוברות כל התאמת טקסט פשוטה: מי שמקליד «בשבת» לא ימצא שאלה שכתוב בה «שבת».</a:t>
            </a:r>
            <a:endParaRPr lang="he-IL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הרעיון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מאגר אחד, בשפה של השואל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335024"/>
            <a:ext cx="8010144" cy="1060704"/>
          </a:xfrm>
          <a:prstGeom prst="roundRect">
            <a:avLst>
              <a:gd name="adj" fmla="val 8621"/>
            </a:avLst>
          </a:prstGeom>
          <a:solidFill>
            <a:srgbClr val="F2EBDA"/>
          </a:solidFill>
          <a:ln w="15875">
            <a:solidFill>
              <a:srgbClr val="A67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35024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600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מאגר עברי אחד של שאלות ותשובות בהלכה — כתובות מראש, עם מקורות ועם מנהגי אשכנז וספרד — שאפשר למצוא אותן בניסוח היומיומי של השאלה, ולא במונחים המקצועיים שלה.</a:t>
            </a:r>
            <a:endParaRPr lang="he-IL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596896"/>
            <a:ext cx="2542032" cy="1481328"/>
          </a:xfrm>
          <a:prstGeom prst="roundRect">
            <a:avLst>
              <a:gd name="adj" fmla="val 55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7340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תשובה קצרה קודם</a:t>
            </a:r>
            <a:endParaRPr lang="he-IL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118104"/>
            <a:ext cx="2176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משפט אחד חד-משמעי בראש העמוד, ורק אחריו ההרחבה, המקורות והמנהגים. מי שממהר מקבל תשובה בשורה אחת.</a:t>
            </a:r>
            <a:endParaRPr lang="he-IL" sz="1050" dirty="0"/>
          </a:p>
        </p:txBody>
      </p:sp>
      <p:sp>
        <p:nvSpPr>
          <p:cNvPr id="13" name="Shape 11"/>
          <p:cNvSpPr/>
          <p:nvPr/>
        </p:nvSpPr>
        <p:spPr>
          <a:xfrm>
            <a:off x="3300984" y="2596896"/>
            <a:ext cx="2542032" cy="1481328"/>
          </a:xfrm>
          <a:prstGeom prst="roundRect">
            <a:avLst>
              <a:gd name="adj" fmla="val 55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27340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חיפוש בשפה טבעית</a:t>
            </a:r>
            <a:endParaRPr lang="he-IL" sz="1300" dirty="0"/>
          </a:p>
        </p:txBody>
      </p:sp>
      <p:sp>
        <p:nvSpPr>
          <p:cNvPr id="15" name="Text 13"/>
          <p:cNvSpPr/>
          <p:nvPr/>
        </p:nvSpPr>
        <p:spPr>
          <a:xfrm>
            <a:off x="3483864" y="3118104"/>
            <a:ext cx="2176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המשתמש מקליד כמו שהוא מדבר. הגישור אל המונח ההלכתי הוא תפקיד המערכת, לא תפקידו.</a:t>
            </a:r>
            <a:endParaRPr lang="he-IL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596896"/>
            <a:ext cx="2542032" cy="1481328"/>
          </a:xfrm>
          <a:prstGeom prst="roundRect">
            <a:avLst>
              <a:gd name="adj" fmla="val 55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3405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לדעת לשתוק</a:t>
            </a:r>
            <a:endParaRPr lang="he-IL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3118104"/>
            <a:ext cx="2176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כשאין תשובה במאגר, המערכת אומרת «לא מצאתי» — ולא מגישה את התוצאה הכי קרובה כאילו היא התשובה.</a:t>
            </a:r>
            <a:endParaRPr lang="he-IL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התוכן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2,125</a:t>
            </a: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שאלות בעשרים ושבעה נושאים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97980" y="1316736"/>
            <a:ext cx="1879092" cy="841248"/>
          </a:xfrm>
          <a:prstGeom prst="roundRect">
            <a:avLst>
              <a:gd name="adj" fmla="val 8696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7980" y="139903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2,125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97980" y="180136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שאלות במאגר</a:t>
            </a:r>
            <a:endParaRPr lang="he-IL" sz="950" dirty="0"/>
          </a:p>
        </p:txBody>
      </p:sp>
      <p:sp>
        <p:nvSpPr>
          <p:cNvPr id="11" name="Shape 9"/>
          <p:cNvSpPr/>
          <p:nvPr/>
        </p:nvSpPr>
        <p:spPr>
          <a:xfrm>
            <a:off x="4654296" y="1316736"/>
            <a:ext cx="1879092" cy="841248"/>
          </a:xfrm>
          <a:prstGeom prst="roundRect">
            <a:avLst>
              <a:gd name="adj" fmla="val 8696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39903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27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54296" y="180136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נושאים</a:t>
            </a:r>
            <a:endParaRPr lang="he-IL" sz="950" dirty="0"/>
          </a:p>
        </p:txBody>
      </p:sp>
      <p:sp>
        <p:nvSpPr>
          <p:cNvPr id="14" name="Shape 12"/>
          <p:cNvSpPr/>
          <p:nvPr/>
        </p:nvSpPr>
        <p:spPr>
          <a:xfrm>
            <a:off x="2610612" y="1316736"/>
            <a:ext cx="1879092" cy="841248"/>
          </a:xfrm>
          <a:prstGeom prst="roundRect">
            <a:avLst>
              <a:gd name="adj" fmla="val 8696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0612" y="139903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10612" y="180136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תווים בכתובת קבועה</a:t>
            </a:r>
            <a:endParaRPr lang="he-IL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1316736"/>
            <a:ext cx="1879092" cy="841248"/>
          </a:xfrm>
          <a:prstGeom prst="roundRect">
            <a:avLst>
              <a:gd name="adj" fmla="val 8696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39903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0 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6928" y="180136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עלות תפעול חודשית</a:t>
            </a:r>
            <a:endParaRPr lang="he-IL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34086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כל שאלה היא רשומה אחת:</a:t>
            </a:r>
            <a:endParaRPr lang="he-IL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615184"/>
            <a:ext cx="36393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נוסח השאלה כפי שהיא נשאלת בפועל</a:t>
            </a:r>
            <a:endParaRPr lang="en-US" sz="1050" dirty="0"/>
          </a:p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תשובה קצרה — משפט אחד חד-משמעי</a:t>
            </a:r>
            <a:endParaRPr lang="en-US" sz="1050" dirty="0"/>
          </a:p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שתי פסקאות הרחבה</a:t>
            </a:r>
            <a:endParaRPr lang="en-US" sz="1050" dirty="0"/>
          </a:p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מקורות בני-אימות: שולחן ערוך, משנה ברורה, רמ״א</a:t>
            </a:r>
            <a:endParaRPr lang="en-US" sz="1050" dirty="0"/>
          </a:p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מנהג אשכנז וספרד היכן שיש הבדל ממשי</a:t>
            </a:r>
            <a:endParaRPr lang="en-US" sz="1050" dirty="0"/>
          </a:p>
          <a:p>
            <a:pPr rtl="1" algn="r" marL="152400" indent="-152400">
              <a:spcAft>
                <a:spcPts val="4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שבע עד עשר מילות חיפוש בניסוח דיבור</a:t>
            </a:r>
            <a:endParaRPr lang="en-US" sz="105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קוד כתובת קבוע בן ארבעה תווים: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/q/k7m2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4187952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לצד המאגר: זמני היום ההלכתיים לכל עיר בחישוב אסטרונומי מקומי, לוח עברי, טבלת «מה נברך» ובלוג.</a:t>
            </a:r>
            <a:endParaRPr lang="he-IL" sz="950" dirty="0"/>
          </a:p>
        </p:txBody>
      </p:sp>
      <p:sp>
        <p:nvSpPr>
          <p:cNvPr id="23" name="Shape 21"/>
          <p:cNvSpPr/>
          <p:nvPr/>
        </p:nvSpPr>
        <p:spPr>
          <a:xfrm>
            <a:off x="534924" y="2363724"/>
            <a:ext cx="4224528" cy="1933905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52">
                <a:alpha val="18000"/>
              </a:srgbClr>
            </a:outerShdw>
          </a:effectLst>
        </p:spPr>
      </p:sp>
      <p:pic>
        <p:nvPicPr>
          <p:cNvPr id="24" name="Image 0" descr="C:\Users\בן\Desktop\sofdavar\docs\deck-assets\shot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4160520" cy="186989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66928" y="43159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עמוד שאלה: התשובה הקצרה קודמת לכל השאר.</a:t>
            </a:r>
            <a:endParaRPr lang="he-IL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המוצר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כך זה נראה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4924" y="1357884"/>
            <a:ext cx="5321808" cy="2732942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52">
                <a:alpha val="18000"/>
              </a:srgbClr>
            </a:outerShdw>
          </a:effectLst>
        </p:spPr>
      </p:sp>
      <p:pic>
        <p:nvPicPr>
          <p:cNvPr id="9" name="Image 0" descr="C:\Users\בן\Desktop\sofdavar\docs\deck-assets\sho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5257800" cy="26689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53328" y="13898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תיבת חיפוש אחת</a:t>
            </a:r>
            <a:endParaRPr lang="he-IL" sz="1300" dirty="0"/>
          </a:p>
        </p:txBody>
      </p:sp>
      <p:sp>
        <p:nvSpPr>
          <p:cNvPr id="11" name="Text 8"/>
          <p:cNvSpPr/>
          <p:nvPr/>
        </p:nvSpPr>
        <p:spPr>
          <a:xfrm>
            <a:off x="6053328" y="1664208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combobox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לפי תקן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WAI-ARIA: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ניווט בחצים,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ו-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Escape,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והכרזת מספר התוצאות לקורא מסך.</a:t>
            </a:r>
            <a:endParaRPr lang="he-IL" sz="1000" dirty="0"/>
          </a:p>
        </p:txBody>
      </p:sp>
      <p:sp>
        <p:nvSpPr>
          <p:cNvPr id="12" name="Text 9"/>
          <p:cNvSpPr/>
          <p:nvPr/>
        </p:nvSpPr>
        <p:spPr>
          <a:xfrm>
            <a:off x="6053328" y="245059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עובד בלי </a:t>
            </a:r>
            <a:r>
              <a:rPr lang="en-US" altLang="en-US" rtl="0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JavaScript</a:t>
            </a:r>
            <a:endParaRPr lang="he-IL" sz="1300" dirty="0"/>
          </a:p>
        </p:txBody>
      </p:sp>
      <p:sp>
        <p:nvSpPr>
          <p:cNvPr id="13" name="Text 10"/>
          <p:cNvSpPr/>
          <p:nvPr/>
        </p:nvSpPr>
        <p:spPr>
          <a:xfrm>
            <a:off x="6053328" y="2724912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עמוד מרונדר בשרת. כשה-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כבוי, החיפוש נשלח כטופס רגיל וממשיך לעבוד.</a:t>
            </a:r>
            <a:endParaRPr lang="he-IL" sz="1000" dirty="0"/>
          </a:p>
        </p:txBody>
      </p:sp>
      <p:sp>
        <p:nvSpPr>
          <p:cNvPr id="14" name="Text 11"/>
          <p:cNvSpPr/>
          <p:nvPr/>
        </p:nvSpPr>
        <p:spPr>
          <a:xfrm>
            <a:off x="6053328" y="351129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מצב כהה ובהיר</a:t>
            </a:r>
            <a:endParaRPr lang="he-IL" sz="1300" dirty="0"/>
          </a:p>
        </p:txBody>
      </p:sp>
      <p:sp>
        <p:nvSpPr>
          <p:cNvPr id="15" name="Text 12"/>
          <p:cNvSpPr/>
          <p:nvPr/>
        </p:nvSpPr>
        <p:spPr>
          <a:xfrm>
            <a:off x="6053328" y="37856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נשמר ב-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בלי הבזק בטעינה. הניגודיות נבדקה מול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AA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בשני המצבים.</a:t>
            </a:r>
            <a:endParaRPr lang="he-IL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415026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עמוד הבית — הפסוק, המאגר ותיבת החיפוש היחידה.</a:t>
            </a:r>
            <a:endParaRPr lang="he-IL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ההדגמה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מה שמקלידים אינו מה שכתוב במאגר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השאילתה «אכלתי פיצה מתי מותר המבורגר» אינה חולקת אף מילה עם השאלה שבמאגר — «כמה זמן ממתינים אחרי גבינה לפני אכילת בשר?» — ובכל זאת היא התוצאה הראשונה. הגישור נעשה בשתי דרכים: מילות חיפוש בניסוח דיבור שנכתבות לכל שאלה, ונרמול עברי שמסיר ניקוד ומאחד «בשבת» ל«שבת».</a:t>
            </a:r>
            <a:endParaRPr lang="he-IL" sz="1200" dirty="0"/>
          </a:p>
        </p:txBody>
      </p:sp>
      <p:sp>
        <p:nvSpPr>
          <p:cNvPr id="9" name="Shape 7"/>
          <p:cNvSpPr/>
          <p:nvPr/>
        </p:nvSpPr>
        <p:spPr>
          <a:xfrm>
            <a:off x="1705356" y="2180844"/>
            <a:ext cx="57332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C9"/>
            </a:solidFill>
            <a:prstDash val="solid"/>
          </a:ln>
          <a:effectLst>
            <a:outerShdw sx="100000" sy="100000" kx="0" ky="0" algn="bl" rotWithShape="0" blurRad="101600" dist="25400" dir="5400000">
              <a:srgbClr val="8A7A52">
                <a:alpha val="18000"/>
              </a:srgbClr>
            </a:outerShdw>
          </a:effectLst>
        </p:spPr>
      </p:sp>
      <p:pic>
        <p:nvPicPr>
          <p:cNvPr id="10" name="Image 0" descr="C:\Users\בן\Desktop\sofdavar\docs\deck-assets\shot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212848"/>
            <a:ext cx="5669280" cy="22677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562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צילום מסך מן האתר. שאר התוצאות מגיעות מנושאים אחרים — ברכות, שבת — ולכן שער הראיות הוא שמחליט מה באמת קשור.</a:t>
            </a:r>
            <a:endParaRPr lang="he-IL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המנוע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שתי שכבות חיפוש, ולא אחת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72584" y="1316736"/>
            <a:ext cx="3904488" cy="2286000"/>
          </a:xfrm>
          <a:prstGeom prst="roundRect">
            <a:avLst>
              <a:gd name="adj" fmla="val 3600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5464" y="145389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לקסיקלי — מילים</a:t>
            </a:r>
            <a:endParaRPr lang="he-IL" sz="1400" dirty="0"/>
          </a:p>
        </p:txBody>
      </p:sp>
      <p:sp>
        <p:nvSpPr>
          <p:cNvPr id="10" name="Text 8"/>
          <p:cNvSpPr/>
          <p:nvPr/>
        </p:nvSpPr>
        <p:spPr>
          <a:xfrm>
            <a:off x="4855464" y="183794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FTS5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עם דירוג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bm25.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הנרמול העברי מופעל בשני הצדדים — גם על הטקסט שנכנס לאינדקס וגם על השאילתה:</a:t>
            </a:r>
            <a:endParaRPr lang="he-IL" sz="1050" dirty="0"/>
          </a:p>
        </p:txBody>
      </p:sp>
      <p:sp>
        <p:nvSpPr>
          <p:cNvPr id="11" name="Text 9"/>
          <p:cNvSpPr/>
          <p:nvPr/>
        </p:nvSpPr>
        <p:spPr>
          <a:xfrm>
            <a:off x="4855464" y="2459736"/>
            <a:ext cx="35387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ניקוד וטעמי מקרא מוסרים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אותיות סופיות מאוחדות: ך ם ן ף ץ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אותיות שימוש נחתכות — «בשבת» מוצא «שבת»</a:t>
            </a:r>
            <a:endParaRPr lang="en-US" sz="100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התאמת תחילית: השלמה כבר מהתו השני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316736"/>
            <a:ext cx="3904488" cy="2286000"/>
          </a:xfrm>
          <a:prstGeom prst="roundRect">
            <a:avLst>
              <a:gd name="adj" fmla="val 3600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45389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סמנטי — משמעות</a:t>
            </a:r>
            <a:endParaRPr lang="he-IL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183794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ווקטור אחד לכל שאלה, ודמיון קוסינוס מול כל המאגר בכפל מטריצה יחיד — כמילישנייה:</a:t>
            </a:r>
            <a:endParaRPr lang="he-IL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459736"/>
            <a:ext cx="35387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מוצא ניסוח שאין בו אף מילה משותפת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הווקטור נבנה שדה-שדה, במשקלים מפורשים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מוצג באתר כמדור נפרד: «עוד מהמאגר»</a:t>
            </a:r>
            <a:endParaRPr lang="en-US" sz="100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בלי מסד ווקטורי, בלי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ובלי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8010144" cy="603504"/>
          </a:xfrm>
          <a:prstGeom prst="roundRect">
            <a:avLst>
              <a:gd name="adj" fmla="val 12121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03904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המיזוג —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Reciprocal Rank Fusion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עם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k=60: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כל שיטה תורמת ניקוד ההופכי למיקום שנתנה, והסכום מכריע.</a:t>
            </a:r>
            <a:endParaRPr lang="he-IL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הבינה המלאכותית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מודל שפה עברי שרץ אצלנו, בלי ענן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8010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altLang="en-US" rtl="0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Model2Vec</a:t>
            </a: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היא שיטת זיקוק: מריצים מודל טרנספורמר על כל אוצר המילים, ושומרים לכל טוקן את הווקטור שיצא — כלומר ממירים רשת עמוקה לטבלת חיפוש אחת. קידוד משפט הוא שליפת שורות וממוצע, במיקרו-שניות ועל </a:t>
            </a:r>
            <a:r>
              <a:rPr lang="en-US" altLang="en-US" rtl="0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CPU.</a:t>
            </a:r>
            <a:endParaRPr lang="he-IL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66544"/>
            <a:ext cx="2450592" cy="841248"/>
          </a:xfrm>
          <a:prstGeom prst="roundRect">
            <a:avLst>
              <a:gd name="adj" fmla="val 869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13055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המורה: </a:t>
            </a:r>
            <a:r>
              <a:rPr lang="en-US" altLang="en-US" rtl="0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DictaBERT</a:t>
            </a:r>
            <a:endParaRPr lang="he-IL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מודל עברי ילידי</a:t>
            </a:r>
            <a:endParaRPr lang="he-IL" sz="9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altLang="en-US" rtl="0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127,996</a:t>
            </a: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שורות</a:t>
            </a:r>
            <a:endParaRPr lang="he-IL" sz="950" dirty="0"/>
          </a:p>
        </p:txBody>
      </p:sp>
      <p:sp>
        <p:nvSpPr>
          <p:cNvPr id="12" name="Text 10"/>
          <p:cNvSpPr/>
          <p:nvPr/>
        </p:nvSpPr>
        <p:spPr>
          <a:xfrm>
            <a:off x="5797296" y="2066544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7C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6704" y="2066544"/>
            <a:ext cx="2450592" cy="841248"/>
          </a:xfrm>
          <a:prstGeom prst="roundRect">
            <a:avLst>
              <a:gd name="adj" fmla="val 869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13055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זיקוק </a:t>
            </a:r>
            <a:r>
              <a:rPr lang="en-US" altLang="en-US" rtl="0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Model2Vec</a:t>
            </a:r>
            <a:endParaRPr lang="he-IL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טבלת חיפוש אחת</a:t>
            </a:r>
            <a:endParaRPr lang="he-IL" sz="9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altLang="en-US" rtl="0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512</a:t>
            </a: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ממדים</a:t>
            </a:r>
            <a:endParaRPr lang="he-IL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2066544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7C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2066544"/>
            <a:ext cx="2450592" cy="841248"/>
          </a:xfrm>
          <a:prstGeom prst="roundRect">
            <a:avLst>
              <a:gd name="adj" fmla="val 8696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3055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קוונטיזציה ל-</a:t>
            </a:r>
            <a:r>
              <a:rPr lang="en-US" altLang="en-US" rtl="0" sz="12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int8</a:t>
            </a:r>
            <a:endParaRPr lang="he-IL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3957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מקדם לכל שורה</a:t>
            </a:r>
            <a:endParaRPr lang="he-IL" sz="95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rtl="1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המטריצה: </a:t>
            </a:r>
            <a:r>
              <a:rPr lang="en-US" altLang="en-US" rtl="0" sz="9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65.5MB</a:t>
            </a:r>
            <a:endParaRPr lang="he-IL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2962656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סך הכול </a:t>
            </a:r>
            <a:r>
              <a:rPr lang="en-US" altLang="en-US" rtl="0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69MB</a:t>
            </a: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בתיקייה </a:t>
            </a:r>
            <a:r>
              <a:rPr lang="en-US" altLang="en-US" rtl="0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data/model —</a:t>
            </a: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קטן מן המודל הרב-לשוני הקודם, ובלי שלב גזימה כלל.</a:t>
            </a:r>
            <a:endParaRPr lang="he-IL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310128"/>
            <a:ext cx="8010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6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למה הוחלף: כל הכשלים שנמדדו היו מאותו סוג — «אייפון» מול «טלפון נייד», «הבגד הלבן עם החוטים» מול «טלית קטן». פער באיכות המודל בעברית, לא במתכון הווקטור.</a:t>
            </a:r>
            <a:endParaRPr lang="en-US" sz="1050" dirty="0"/>
          </a:p>
          <a:p>
            <a:pPr rtl="1" algn="r" marL="152400" indent="-152400">
              <a:spcAft>
                <a:spcPts val="6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מה שנמדד: שינויים במתכון עצמו נעו בין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0.132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0.167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מול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0.160 —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רעש. מורה רב-לשוני חזק יותר ירד ל-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0.128.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חמישה מודלים עבריים שונים עברו את הבסיס.</a:t>
            </a:r>
            <a:endParaRPr lang="en-US" sz="105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המגבלות שעיצבו את הפתרון: תקרת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500MB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לפונקציית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ותקרת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100MB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לקובץ בודד ב-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בזמן ריצה יש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tokenizers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בלבד — אין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torch,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אין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API,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אין רשת.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הזמנים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זמני היום מחושבים, לא נשלפים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8010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זמני היום ההלכתיים אינם נתון שמורידים מאיפשהו — הם פונקציה של קו רוחב, קו אורך ותאריך. האתר מחשב אותם בעצמו, בשרת, לפי אלגוריתם המיקום הסולרי של </a:t>
            </a:r>
            <a:r>
              <a:rPr lang="en-US" altLang="en-US" rtl="0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NOAA,</a:t>
            </a: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ובלי אף קריאת רשת בזמן ריצה.</a:t>
            </a:r>
            <a:endParaRPr lang="he-IL" sz="1200" dirty="0"/>
          </a:p>
        </p:txBody>
      </p:sp>
      <p:sp>
        <p:nvSpPr>
          <p:cNvPr id="9" name="Shape 7"/>
          <p:cNvSpPr/>
          <p:nvPr/>
        </p:nvSpPr>
        <p:spPr>
          <a:xfrm>
            <a:off x="6697980" y="2048256"/>
            <a:ext cx="1879092" cy="786384"/>
          </a:xfrm>
          <a:prstGeom prst="roundRect">
            <a:avLst>
              <a:gd name="adj" fmla="val 9302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7980" y="213055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32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97980" y="253288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ערים בישראל</a:t>
            </a:r>
            <a:endParaRPr lang="he-IL" sz="950" dirty="0"/>
          </a:p>
        </p:txBody>
      </p:sp>
      <p:sp>
        <p:nvSpPr>
          <p:cNvPr id="12" name="Shape 10"/>
          <p:cNvSpPr/>
          <p:nvPr/>
        </p:nvSpPr>
        <p:spPr>
          <a:xfrm>
            <a:off x="4654296" y="2048256"/>
            <a:ext cx="1879092" cy="786384"/>
          </a:xfrm>
          <a:prstGeom prst="roundRect">
            <a:avLst>
              <a:gd name="adj" fmla="val 9302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213055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14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54296" y="253288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זמנים ליום</a:t>
            </a:r>
            <a:endParaRPr lang="he-IL" sz="950" dirty="0"/>
          </a:p>
        </p:txBody>
      </p:sp>
      <p:sp>
        <p:nvSpPr>
          <p:cNvPr id="15" name="Shape 13"/>
          <p:cNvSpPr/>
          <p:nvPr/>
        </p:nvSpPr>
        <p:spPr>
          <a:xfrm>
            <a:off x="2610612" y="2048256"/>
            <a:ext cx="1879092" cy="786384"/>
          </a:xfrm>
          <a:prstGeom prst="roundRect">
            <a:avLst>
              <a:gd name="adj" fmla="val 9302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0612" y="213055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10612" y="253288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קריאות רשת בזמן ריצה</a:t>
            </a:r>
            <a:endParaRPr lang="he-IL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2048256"/>
            <a:ext cx="1879092" cy="786384"/>
          </a:xfrm>
          <a:prstGeom prst="roundRect">
            <a:avLst>
              <a:gd name="adj" fmla="val 9302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130552"/>
            <a:ext cx="187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0 ₪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28" y="2532888"/>
            <a:ext cx="1879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עלות לקריאה</a:t>
            </a:r>
            <a:endParaRPr lang="he-IL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035808"/>
            <a:ext cx="8010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6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הזוויות שמתחת לאופק הן ההכרעה ההלכתית: עלות השחר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16.1°,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זמן טלית ותפילין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11.5°,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צאת הכוכבים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8.5°.</a:t>
            </a:r>
            <a:endParaRPr lang="en-US" sz="1050" dirty="0"/>
          </a:p>
          <a:p>
            <a:pPr rtl="1" algn="r" marL="152400" indent="-152400">
              <a:spcAft>
                <a:spcPts val="6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החישוב נעשה בגובה פני הים, כמו ברוב הלוחות המקובלים בארץ, ולא לפי גובה היישוב בפועל.</a:t>
            </a:r>
            <a:endParaRPr lang="en-US" sz="1050" dirty="0"/>
          </a:p>
          <a:p>
            <a:pPr rtl="1" algn="r" marL="152400" indent="-152400">
              <a:spcAft>
                <a:spcPts val="6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זמן הדלקת נרות אינו חישוב אלא מנהג המקום — ולכן הוא נתון לכל עיר בנפרד, יחד עם מקור המנהג.</a:t>
            </a:r>
            <a:endParaRPr lang="en-US" sz="105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גם הלוח העברי מקומי: מולד וארבע הדחיות, אותו אלגוריתם שב-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Calendrical Calculations.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אין טבלה ואין רשת.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224528"/>
            <a:ext cx="8010144" cy="457200"/>
          </a:xfrm>
          <a:prstGeom prst="roundRect">
            <a:avLst>
              <a:gd name="adj" fmla="val 16000"/>
            </a:avLst>
          </a:prstGeom>
          <a:solidFill>
            <a:srgbClr val="F5F3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224528"/>
            <a:ext cx="7644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altLang="en-US" rtl="0" sz="10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app/zmanim.py — 340</a:t>
            </a:r>
            <a:r>
              <a:rPr lang="he-IL" altLang="en-US" rtl="1" sz="10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שורות של אסטרונומיה, בלי ספרייה חיצונית אחת.</a:t>
            </a:r>
            <a:endParaRPr lang="he-IL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האימות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ה-</a:t>
            </a:r>
            <a:r>
              <a:rPr lang="en-US" altLang="en-US" rtl="0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API</a:t>
            </a: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של </a:t>
            </a:r>
            <a:r>
              <a:rPr lang="en-US" altLang="en-US" rtl="0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Hebcal —</a:t>
            </a: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בוחן, לא ספק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את ה-</a:t>
            </a:r>
            <a:r>
              <a:rPr lang="en-US" altLang="en-US" rtl="0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של </a:t>
            </a:r>
            <a:r>
              <a:rPr lang="en-US" altLang="en-US" rtl="0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Hebcal</a:t>
            </a: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אנחנו כן מפעילים, אבל רק בפיתוח ולא בזמן ריצה: הוא אינו מקור הזמנים אלא האורקל שבודק אותם. סקריפט אחד מריץ את המנוע המקומי מול השירות לאורך שנה שלמה, ומדפיס את הפער המרבי לכל זמן.</a:t>
            </a:r>
            <a:endParaRPr lang="he-IL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3931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</a:tblGrid>
              <a:tr h="2331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rtl="1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הריצה האחרונה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מה נמדד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1,344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השוואות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זמנים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ערים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תאריכים לאורך שנה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דקה אחת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סבילות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altLang="en-US" rtl="0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0.75</a:t>
                      </a: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דקות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הפער המרבי שנמצא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21031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למה לא לקרוא ל-</a:t>
            </a:r>
            <a:r>
              <a:rPr lang="en-US" altLang="en-US" rtl="0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API</a:t>
            </a: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בזמן ריצה</a:t>
            </a:r>
            <a:endParaRPr lang="he-IL" sz="1300" dirty="0"/>
          </a:p>
        </p:txBody>
      </p:sp>
      <p:sp>
        <p:nvSpPr>
          <p:cNvPr id="11" name="Text 8"/>
          <p:cNvSpPr/>
          <p:nvPr/>
        </p:nvSpPr>
        <p:spPr>
          <a:xfrm>
            <a:off x="4663440" y="2414016"/>
            <a:ext cx="3913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תלות: כשהשירות נופל או משנה מבנה, האתר מפסיק לתת זמנים.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מגבלת קצב ועלות — שתיהן נמנעות כשהחישוב מקומי.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זמן תגובה: כפל מטריצה מקומי מול קריאת רשת חיצונית בכל בקשה.</a:t>
            </a:r>
            <a:endParaRPr lang="en-US" sz="100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פרטיות: מיקום המשתמש אינו יוצא לשום שרת אחר.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3858768"/>
            <a:ext cx="8010144" cy="658368"/>
          </a:xfrm>
          <a:prstGeom prst="roundRect">
            <a:avLst>
              <a:gd name="adj" fmla="val 11111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858768"/>
            <a:ext cx="7644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התוצאה: הפער המרבי בכל </a:t>
            </a:r>
            <a:r>
              <a:rPr lang="en-US" altLang="en-US" rtl="0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1,344</a:t>
            </a: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ההשוואות היה </a:t>
            </a:r>
            <a:r>
              <a:rPr lang="en-US" altLang="en-US" rtl="0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שניות, בחצות היום, וכל שאר הזמנים בתוך חצי דקה. הבדיקה מורצת מחדש אחרי כל שינוי במנוע — </a:t>
            </a:r>
            <a:r>
              <a:rPr lang="en-US" altLang="en-US" rtl="0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scripts/verify_zmanim.py</a:t>
            </a:r>
            <a:endParaRPr lang="he-IL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יושרה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המערכת יודעת לומר «לא מצאתי»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2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מנוע שמחזיר תמיד תוצאה כלשהי מסוכן דווקא כאן: התוצאה הקרובה ביותר אינה בהכרח קשורה לשאלה. לכן נבנה שער ראיות שחוסם תשובה כשאין די ראיה.</a:t>
            </a:r>
            <a:endParaRPr lang="he-IL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8836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איך זה עובד</a:t>
            </a:r>
            <a:endParaRPr lang="he-IL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176272"/>
            <a:ext cx="3913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לכל גזע נשמרת שכיחות המסמכים שלו במאגר.</a:t>
            </a:r>
            <a:endParaRPr lang="en-US" sz="105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מילה שמופיעה ביותר מעשרה אחוזים מהשאלות היא מילת מילוי, ואינה נחשבת ראיה.</a:t>
            </a:r>
            <a:endParaRPr lang="en-US" sz="105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לשאר מחושב משקל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IDF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קלאסי, לפי שכיחותן ההפוכה.</a:t>
            </a:r>
            <a:endParaRPr lang="en-US" sz="105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תוצאה שאינה מכסה לפחות חמישית ממסת המידע של השאילתה נפסלת.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18836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הסף נבחר ממדידה, לא מתחושה</a:t>
            </a:r>
            <a:endParaRPr lang="he-IL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39136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42416"/>
                <a:gridCol w="1060704"/>
                <a:gridCol w="896112"/>
              </a:tblGrid>
              <a:tr h="2743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rtl="1" sz="95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אפס תוצאות</a:t>
                      </a:r>
                      <a:endParaRPr lang="he-IL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rtl="1" sz="95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טעות בטוחה</a:t>
                      </a:r>
                      <a:endParaRPr lang="he-IL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Recall@1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95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סף</a:t>
                      </a:r>
                      <a:endParaRPr lang="he-IL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25.3%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ללא סף</a:t>
                      </a:r>
                      <a:endParaRPr lang="he-IL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46.7%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13.3%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17.3%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340156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הסף שנבחר, </a:t>
            </a:r>
            <a:r>
              <a:rPr lang="en-US" altLang="en-US" rtl="0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0.20,</a:t>
            </a: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מוותר על </a:t>
            </a:r>
            <a:r>
              <a:rPr lang="en-US" altLang="en-US" rtl="0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1.3</a:t>
            </a: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נקודות דיוק וחוסך שבע-עשרה נקודות של תשובות בטוחות-ושגויות. נמדד על מאגר של </a:t>
            </a:r>
            <a:r>
              <a:rPr lang="en-US" altLang="en-US" rtl="0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1,422</a:t>
            </a:r>
            <a:r>
              <a:rPr lang="he-IL" altLang="en-US" rtl="1" sz="9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שאלות.</a:t>
            </a:r>
            <a:endParaRPr lang="he-IL" sz="950" dirty="0"/>
          </a:p>
        </p:txBody>
      </p:sp>
      <p:sp>
        <p:nvSpPr>
          <p:cNvPr id="14" name="Shape 11"/>
          <p:cNvSpPr/>
          <p:nvPr/>
        </p:nvSpPr>
        <p:spPr>
          <a:xfrm>
            <a:off x="566928" y="3986784"/>
            <a:ext cx="8010144" cy="603504"/>
          </a:xfrm>
          <a:prstGeom prst="roundRect">
            <a:avLst>
              <a:gd name="adj" fmla="val 12121"/>
            </a:avLst>
          </a:prstGeom>
          <a:solidFill>
            <a:srgbClr val="F7F2E6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986784"/>
            <a:ext cx="7644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ועל הדמיון הסמנטי אין סף כלל: נמדד שהציון אינו מפריד בין נכון לשגוי — שאילתה שאין לה תשובה במאגר קיבלה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0.750,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גבוה מכל פגיעה נכונה שנמדדה, 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0.658.</a:t>
            </a:r>
            <a:endParaRPr lang="he-IL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מדידה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כל החלטה נמדדה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מסגרת מדידה קבועה: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שאילתות —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עם תשובה ידועה ו-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שאין להן תשובה במכוון — חמש שיטות ושישה מדדים, מורצות מחדש אחרי כל הוספת תוכן.</a:t>
            </a:r>
            <a:endParaRPr lang="he-IL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8010144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1371600"/>
                <a:gridCol w="1417320"/>
                <a:gridCol w="1417320"/>
                <a:gridCol w="2194560"/>
              </a:tblGrid>
              <a:tr h="26060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he-IL" altLang="en-US" rtl="1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אפס תוצאות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MRR@10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Recall@5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Recall@1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b="1" dirty="0">
                          <a:solidFill>
                            <a:srgbClr val="6F4F1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שיטה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BD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0.071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לקסיקלי </a:t>
                      </a:r>
                      <a:r>
                        <a:rPr lang="en-US" altLang="en-US" rtl="0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AND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לקסיקלי </a:t>
                      </a:r>
                      <a:r>
                        <a:rPr lang="en-US" altLang="en-US" rtl="0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18.8%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סמנטי בלבד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22.4%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מיזוג </a:t>
                      </a:r>
                      <a:r>
                        <a:rPr lang="en-US" altLang="en-US" rtl="0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RRF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10.6%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35.3%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he-IL" altLang="en-US" rtl="1" sz="1000" dirty="0">
                          <a:solidFill>
                            <a:srgbClr val="14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מה שרץ באתר</a:t>
                      </a:r>
                      <a:endParaRPr lang="he-IL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3493008"/>
            <a:ext cx="8010144" cy="640080"/>
          </a:xfrm>
          <a:prstGeom prst="roundRect">
            <a:avLst>
              <a:gd name="adj" fmla="val 11429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493008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המסקנה הכנה: הלקסיקלי עדיין המדויק ביותר במקום הראשון, והמיזוג הטוב ביותר בחמש הראשונות. הרחבת המאגר ב-</a:t>
            </a:r>
            <a:r>
              <a:rPr lang="en-US" altLang="en-US" rtl="0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260</a:t>
            </a:r>
            <a:r>
              <a:rPr lang="he-IL" altLang="en-US" rtl="1" sz="11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שאלות הורידה את כל המספרים — כל שאלה חדשה היא מסיח לשאילתות הישנות.</a:t>
            </a:r>
            <a:endParaRPr lang="he-IL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4224528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שלוש-עשרה שיטות שיפור נמדדו ונדחו: </a:t>
            </a:r>
            <a:r>
              <a:rPr lang="en-US" altLang="en-US" rtl="0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SIF/IDF, p-mean,</a:t>
            </a: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מרכוז, </a:t>
            </a:r>
            <a:r>
              <a:rPr lang="en-US" altLang="en-US" rtl="0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all-but-the-top,</a:t>
            </a:r>
            <a:r>
              <a:rPr lang="he-IL" altLang="en-US" rtl="1" sz="9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מורה שאומן על עברית רבנית, אוצר מילים תחומי, מרב על פני שדות ונרמול מילה-מילה. אף אחת לא עברה את המתכון הקיים בשני גדלי מאגר.</a:t>
            </a:r>
            <a:endParaRPr lang="he-IL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יצירת התוכן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מודל שפה כותב את התוכן — לא את התשובה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5040" y="1316736"/>
            <a:ext cx="2542032" cy="1627632"/>
          </a:xfrm>
          <a:prstGeom prst="roundRect">
            <a:avLst>
              <a:gd name="adj" fmla="val 50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45389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1 ·</a:t>
            </a: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כתיבה</a:t>
            </a:r>
            <a:endParaRPr lang="he-IL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837944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סוכן לכל תת-נושא מייצר שאלות ותשובות במבנה </a:t>
            </a:r>
            <a:r>
              <a:rPr lang="en-US" altLang="en-US" rtl="0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קבוע: שאלה, תשובה קצרה, פסקאות הרחבה, מקורות, מנהגים ומילות חיפוש.</a:t>
            </a:r>
            <a:endParaRPr lang="he-IL" sz="1050" dirty="0"/>
          </a:p>
        </p:txBody>
      </p:sp>
      <p:sp>
        <p:nvSpPr>
          <p:cNvPr id="11" name="Shape 9"/>
          <p:cNvSpPr/>
          <p:nvPr/>
        </p:nvSpPr>
        <p:spPr>
          <a:xfrm>
            <a:off x="3300984" y="1316736"/>
            <a:ext cx="2542032" cy="1627632"/>
          </a:xfrm>
          <a:prstGeom prst="roundRect">
            <a:avLst>
              <a:gd name="adj" fmla="val 50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45389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2 ·</a:t>
            </a: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בקרת איכות</a:t>
            </a:r>
            <a:endParaRPr lang="he-IL" sz="1300" dirty="0"/>
          </a:p>
        </p:txBody>
      </p:sp>
      <p:sp>
        <p:nvSpPr>
          <p:cNvPr id="13" name="Text 11"/>
          <p:cNvSpPr/>
          <p:nvPr/>
        </p:nvSpPr>
        <p:spPr>
          <a:xfrm>
            <a:off x="3483864" y="1837944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סוכן שני קורא את הפלט, מאתר כפילויות, מתקן מבנה ובודק סימני שגיאה הלכתיים.</a:t>
            </a:r>
            <a:endParaRPr lang="he-IL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1316736"/>
            <a:ext cx="2542032" cy="1627632"/>
          </a:xfrm>
          <a:prstGeom prst="roundRect">
            <a:avLst>
              <a:gd name="adj" fmla="val 5056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45389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3 ·</a:t>
            </a: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 אימות מול המקור</a:t>
            </a:r>
            <a:endParaRPr lang="he-IL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1837944"/>
            <a:ext cx="21762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rtl="1" sz="10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סקריפט בודק כל הפניה מול ספריא — קיימת, ועוסקת בנושא — ומסיר כפילויות מול המאגר על טקסט מנורמל.</a:t>
            </a:r>
            <a:endParaRPr lang="he-IL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F2EBDA"/>
          </a:solidFill>
          <a:ln w="12700">
            <a:solidFill>
              <a:srgbClr val="DCCC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108960"/>
            <a:ext cx="7644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כל זה קורה מראש, בזמן ההכנה. בזמן ריצה אין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בנתיב הבקשה — האתר מחזיר תשובות שנכתבו ואומתו, ולא תשובות שנוצרות בזמן אמת.</a:t>
            </a:r>
            <a:endParaRPr lang="he-IL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58768"/>
            <a:ext cx="8010144" cy="585216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858768"/>
            <a:ext cx="7644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rtl="1" sz="100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הבהרה: התוכן נועד ללימוד ולהתמצאות בלבד. אינו תחליף לשאלת רב, ואין להסתמך עליו למעשה.</a:t>
            </a:r>
            <a:endParaRPr lang="he-IL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F4F1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altLang="en-US" rtl="0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</a:t>
            </a:r>
            <a:r>
              <a:rPr lang="he-IL" altLang="en-US" rtl="1" sz="1050" b="1" dirty="0">
                <a:solidFill>
                  <a:srgbClr val="6F4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סיכום</a:t>
            </a:r>
            <a:endParaRPr lang="he-IL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2700" b="1" dirty="0">
                <a:solidFill>
                  <a:srgbClr val="14140F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מה יש כאן</a:t>
            </a:r>
            <a:endParaRPr lang="he-IL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9576"/>
            <a:ext cx="8010144" cy="10058"/>
          </a:xfrm>
          <a:prstGeom prst="rect">
            <a:avLst/>
          </a:prstGeom>
          <a:solidFill>
            <a:srgbClr val="E4DCC9"/>
          </a:solidFill>
          <a:ln/>
        </p:spPr>
      </p:sp>
      <p:sp>
        <p:nvSpPr>
          <p:cNvPr id="6" name="Text 4"/>
          <p:cNvSpPr/>
          <p:nvPr/>
        </p:nvSpPr>
        <p:spPr>
          <a:xfrm>
            <a:off x="4919472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rtl="1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סוף דבר · מצגת הפרויקט</a:t>
            </a:r>
            <a:endParaRPr lang="he-IL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6E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24528" y="1371600"/>
            <a:ext cx="4352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900"/>
              </a:spcAft>
              <a:buSzPct val="100000"/>
              <a:buChar char="◆"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מאגר עברי אחד: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2,125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שאלות, תשובה קצרה, מקורות ומנהגים.</a:t>
            </a:r>
            <a:endParaRPr lang="en-US" sz="1150" dirty="0"/>
          </a:p>
          <a:p>
            <a:pPr rtl="1" algn="r" marL="152400" indent="-152400">
              <a:spcAft>
                <a:spcPts val="900"/>
              </a:spcAft>
              <a:buSzPct val="100000"/>
              <a:buChar char="◆"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מנוע חיפוש היברידי שמגשר בין ניסוח יומיומי למונח ההלכתי.</a:t>
            </a:r>
            <a:endParaRPr lang="en-US" sz="1150" dirty="0"/>
          </a:p>
          <a:p>
            <a:pPr rtl="1" algn="r" marL="152400" indent="-152400">
              <a:spcAft>
                <a:spcPts val="900"/>
              </a:spcAft>
              <a:buSzPct val="100000"/>
              <a:buChar char="◆"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מודל שפה עברי מקומי בן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69MB —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בלי ענן, בלי </a:t>
            </a:r>
            <a:r>
              <a:rPr lang="en-US" altLang="en-US" rtl="0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ובלי עלות.</a:t>
            </a:r>
            <a:endParaRPr lang="en-US" sz="1150" dirty="0"/>
          </a:p>
          <a:p>
            <a:pPr rtl="1" algn="r" marL="152400" indent="-152400">
              <a:spcAft>
                <a:spcPts val="900"/>
              </a:spcAft>
              <a:buSzPct val="100000"/>
              <a:buChar char="◆"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מסגרת מדידה שהכריעה בין השיטות, ודחתה שלוש-עשרה מהן.</a:t>
            </a:r>
            <a:endParaRPr lang="en-US" sz="1150" dirty="0"/>
          </a:p>
          <a:p>
            <a:pPr rtl="1" algn="r" marL="152400" indent="-152400">
              <a:buSzPct val="100000"/>
              <a:buChar char="◆"/>
            </a:pPr>
            <a:r>
              <a:rPr lang="he-IL" altLang="en-US" rtl="1" sz="115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מערכת שמעדיפה לשתוק על פני לענות תשובה שאינה נכונה.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371600"/>
            <a:ext cx="3401568" cy="1874520"/>
          </a:xfrm>
          <a:prstGeom prst="roundRect">
            <a:avLst>
              <a:gd name="adj" fmla="val 4390"/>
            </a:avLst>
          </a:prstGeom>
          <a:solidFill>
            <a:srgbClr val="FBF9F5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0876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rtl="1" sz="13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מה הלאה</a:t>
            </a:r>
            <a:endParaRPr lang="he-IL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892808"/>
            <a:ext cx="30358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להמשיך לאזן: חלקה של שבת במאגר ירד מ-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71%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ל-</a:t>
            </a:r>
            <a:r>
              <a:rPr lang="en-US" altLang="en-US" rtl="0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63%</a:t>
            </a: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והיא עדיין הנושא הגדול.</a:t>
            </a:r>
            <a:endParaRPr lang="en-US" sz="1000" dirty="0"/>
          </a:p>
          <a:p>
            <a:pPr rtl="1" algn="r" marL="152400" indent="-152400">
              <a:spcAft>
                <a:spcPts val="500"/>
              </a:spcAft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שיפור החיפוש בניסוח חופשי, שם המדידה עדיין נמוכה.</a:t>
            </a:r>
            <a:endParaRPr lang="en-US" sz="1000" dirty="0"/>
          </a:p>
          <a:p>
            <a:pPr rtl="1" algn="r" marL="152400" indent="-152400">
              <a:buSzPct val="100000"/>
              <a:buChar char="•"/>
            </a:pPr>
            <a:r>
              <a:rPr lang="he-IL" altLang="en-US" rtl="1" sz="1000" dirty="0">
                <a:solidFill>
                  <a:srgbClr val="141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עלייה לדומיין קבוע, ומדידה על שאילתות אמת.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67328"/>
            <a:ext cx="1463040" cy="10973"/>
          </a:xfrm>
          <a:prstGeom prst="rect">
            <a:avLst/>
          </a:prstGeom>
          <a:solidFill>
            <a:srgbClr val="A67C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3931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he-IL" altLang="en-US" rtl="1" sz="2000" b="1" dirty="0">
                <a:solidFill>
                  <a:srgbClr val="6F4F17"/>
                </a:solidFill>
                <a:latin typeface="David" pitchFamily="34" charset="0"/>
                <a:ea typeface="David" pitchFamily="34" charset="-122"/>
                <a:cs typeface="David" pitchFamily="34" charset="-120"/>
              </a:rPr>
              <a:t>תודה</a:t>
            </a:r>
            <a:endParaRPr lang="he-IL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סוף דבר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סוף דבר — מצגת הפרויקט</dc:title>
  <dc:subject>מאגר שאלות ותשובות בהלכה עם מנוע חיפוש היברידי</dc:subject>
  <dc:creator>PptxGenJS</dc:creator>
  <cp:lastModifiedBy>PptxGenJS</cp:lastModifiedBy>
  <cp:revision>1</cp:revision>
  <dcterms:created xsi:type="dcterms:W3CDTF">2026-08-17T08:24:43Z</dcterms:created>
  <dcterms:modified xsi:type="dcterms:W3CDTF">2026-08-17T08:24:43Z</dcterms:modified>
</cp:coreProperties>
</file>